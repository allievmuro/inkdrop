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286000"/>
            <a:ext cx="2743200" cy="2743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5029200"/>
            <a:ext cx="1097280" cy="10972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669280"/>
            <a:ext cx="548640" cy="5486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73152" cy="3200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37160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99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18CF8"/>
                </a:solidFill>
                <a:latin typeface="Calibri"/>
              </a:rPr>
              <a:t>CREATOR TOOLS · SOLANA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Inkdrop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Anchor Solana creator content on-chain and earn automatic royalties when it drives protocol activity.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7200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4572000"/>
            <a:ext cx="109728" cy="109728"/>
          </a:xfrm>
          <a:prstGeom prst="ellipse">
            <a:avLst/>
          </a:prstGeom>
          <a:solidFill>
            <a:srgbClr val="6B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63040" y="4572000"/>
            <a:ext cx="109728" cy="109728"/>
          </a:xfrm>
          <a:prstGeom prst="ellipse">
            <a:avLst/>
          </a:prstGeom>
          <a:solidFill>
            <a:srgbClr val="6B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83079" y="4572000"/>
            <a:ext cx="109728" cy="109728"/>
          </a:xfrm>
          <a:prstGeom prst="ellipse">
            <a:avLst/>
          </a:prstGeom>
          <a:solidFill>
            <a:srgbClr val="6B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03120" y="4572000"/>
            <a:ext cx="109728" cy="109728"/>
          </a:xfrm>
          <a:prstGeom prst="ellipse">
            <a:avLst/>
          </a:prstGeom>
          <a:solidFill>
            <a:srgbClr val="6B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23160" y="4572000"/>
            <a:ext cx="109728" cy="109728"/>
          </a:xfrm>
          <a:prstGeom prst="ellipse">
            <a:avLst/>
          </a:prstGeom>
          <a:solidFill>
            <a:srgbClr val="6B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18CF8"/>
                </a:solidFill>
                <a:latin typeface="Calibri"/>
              </a:rPr>
              <a:t>⬡ Solana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846320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0F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Calibri"/>
              </a:rPr>
              <a:t>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94"/>
                </a:solidFill>
                <a:latin typeface="Calibri"/>
              </a:rPr>
              <a:t>Founded by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56032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237744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381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78240" y="219456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18CF8"/>
                </a:solidFill>
                <a:latin typeface="Calibri"/>
              </a:rPr>
              <a:t>Content → Chain → Royalties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346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SHA-256 fingerprint anchored
on-chain via Bubblegum cNFT.
Automatic royalty routing
through Anchor PDA.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914400"/>
            <a:ext cx="4114800" cy="4114800"/>
          </a:xfrm>
          <a:prstGeom prst="ellipse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Creators drive billions
in protocol value —
and capture none of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3200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 single Solana creator thread can drive thousands of new protocol users. That attribution is invisible on-chain. There is no standard, no proof, no payment.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931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754880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Content-driven conversions are untracked. Protocols have no on-chain evidence of which creator drove their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794760"/>
            <a:ext cx="356616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931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18CF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754880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Every protocol reinvents attribution — or ignores it entirely. There is no shared memo spec or fingerprint format.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94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79476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3931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 Payout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754880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Creators receive zero economic upside from the protocol growth their content directly generates.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640080"/>
            <a:ext cx="4297680" cy="256032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868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818CF8"/>
                </a:solidFill>
                <a:latin typeface="Calibri"/>
              </a:rPr>
              <a:t>$2.4B+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830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protocol TVL influenced by
Solana creator content in 2024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514600"/>
            <a:ext cx="3749039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5786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Calibri"/>
              </a:rPr>
              <a:t>0% of that value returned to creators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5029200" cy="6126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Inkdrop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Calibri"/>
              </a:rPr>
              <a:t>On-chain content attribution
with automatic royalty routing.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43891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Calibri"/>
              </a:rPr>
              <a:t>How it works: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79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1.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Paste content → mint cNFT with SHA-256 fingerprint via Bubblegum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404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2. Attribute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873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Protocols include fingerprint in tx memo using open spec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3. 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731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Helius indexer fires CPI call on attribution match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120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4. 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58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Royalty % routes to claimable treasury PDA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572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Calibri"/>
              </a:rPr>
              <a:t>Trustless · Auditable · No Oracle Dependency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914400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005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987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Creator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3350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Thread / Essay / Clip anchored via URL or markdown paste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1828800"/>
            <a:ext cx="3657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0" y="1965960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057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039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cNFT + PDA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386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Bubblegum leaf stores SHA-256 hash; Anchor PDA holds royalty DAG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2880360"/>
            <a:ext cx="3657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0" y="3017520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1089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Protocol Tx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438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Memo field includes Inkdrop fingerprint per open attribution spec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3931920"/>
            <a:ext cx="3657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0" y="4069079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41605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1422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Helius Indexer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489703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Real-time webhook detects attribution, triggers CPI royalty 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4983479"/>
            <a:ext cx="3657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0" y="5120640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521207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193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Creator Wallet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5412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5–15% of attributed value lands in claimable treasury PDA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1371600"/>
            <a:ext cx="6400800" cy="64008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convergence of
cNFTs, Helius infra,
and creator economics
creates a narrow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2724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Three forces align in 2025–2026 to make Inkdrop possible — and urgent.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749039"/>
            <a:ext cx="64008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cNFTs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224527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Metaplex Bubblegum compressed NFTs reduce minting cost to &lt;$0.001, making per-content anchoring economically viable for the first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749039"/>
            <a:ext cx="64008" cy="1417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Helius Infra Maturity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224527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Helius webhooks now offer &lt;200ms latency on mainnet transaction indexing — fast enough for real-time attribution detection without centralized oracles.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9496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Creator Economy Inflection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87044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Solana DeFi TVL crossed $8B in 2024. The creator-to-protocol pipeline is enormous, but monetization infrastructure is still missing.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394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539496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Regulatory Tailwinds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587044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On-chain attribution creates transparent IP provenance records — increasingly valuable as AI content floods the internet and proof-of-authorship becomes critical.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11480"/>
            <a:ext cx="4572000" cy="237744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640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18CF8"/>
                </a:solidFill>
                <a:latin typeface="Calibri"/>
              </a:rPr>
              <a:t>&lt;$0.001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126187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94"/>
                </a:solidFill>
                <a:latin typeface="Calibri"/>
              </a:rPr>
              <a:t>per content anchor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731520"/>
            <a:ext cx="2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640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18CF8"/>
                </a:solidFill>
                <a:latin typeface="Calibri"/>
              </a:rPr>
              <a:t>200ms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126187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94"/>
                </a:solidFill>
                <a:latin typeface="Calibri"/>
              </a:rPr>
              <a:t>attribution latency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731520"/>
            <a:ext cx="2743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640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18CF8"/>
                </a:solidFill>
                <a:latin typeface="Calibri"/>
              </a:rPr>
              <a:t>$8B+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126187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94"/>
                </a:solidFill>
                <a:latin typeface="Calibri"/>
              </a:rPr>
              <a:t>Solana DeFi TVL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18288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7D2FE"/>
                </a:solidFill>
                <a:latin typeface="Calibri"/>
              </a:rPr>
              <a:t>The infrastructure is ready. The creator demand is proven. The window is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creator economy meets
the on-chain attention economy.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The addressable market sits at the intersection of two fast-growing verticals: the $250B creator economy and the $180B crypto DeFi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356616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$250B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Global creator economy — influencers, writers, video creators monetizing content across all platforms.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8892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788920"/>
            <a:ext cx="356616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Calibri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337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$18B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5196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Crypto-native creator economy — on-chain content creators across all L1/L2 chains with monetizable audiences.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78892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788920"/>
            <a:ext cx="356616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37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$480M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25196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Solana creator attribution royalties — 1k–50k follower creators driving protocol adoption on Solana in 2026.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502920"/>
            <a:ext cx="3749039" cy="585216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640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18CF8"/>
                </a:solidFill>
                <a:latin typeface="Calibri"/>
              </a:rPr>
              <a:t>Why Solana Creators?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2344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Calibri"/>
              </a:rPr>
              <a:t>17M+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618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Active Solana wallets as of Q1 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14884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1945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Calibri"/>
              </a:rPr>
              <a:t>340K+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5786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Content creators with &gt;1K crypto followers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10896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154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Calibri"/>
              </a:rPr>
              <a:t>$1.2B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538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DeFi protocol TVL driven by creator referrals in 2024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06908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  <a:latin typeface="Calibri"/>
              </a:rPr>
              <a:t>82%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988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of Solana DeFi users found protocols via social content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02920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5074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7171"/>
                </a:solidFill>
                <a:latin typeface="Calibri"/>
              </a:rP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589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average creator royalty from those referrals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1371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PRODUCT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Everything a creator needs to
capture on-chain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4406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4767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One-Click Anchoring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04872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Paste any URL or markdown body. Mint a compressed cNFT with SHA-256 content fingerprint stored in Bubblegum leaf metadata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44068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94767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Royalty DAG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Configure up to 5 co-creator splits at basis-point precision. Stored in Anchor PDA and enforced on every downstream attribution payout.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544068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440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42231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Open Attribution Memo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99431"/>
            <a:ext cx="50749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Lightweight open spec for protocols to include Inkdrop fingerprints in tx memo fields — no smart contract changes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44068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977639"/>
            <a:ext cx="5440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4142231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Attribution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99431"/>
            <a:ext cx="50749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Helius-powered real-time feed of every on-chain tx citing your content. Total earnings, top referring protocols, full audit trail.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5440680" cy="2560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77639"/>
            <a:ext cx="54406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1422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Claimable Treasury PDA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99432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Accumulated royalties sit in a per-creator PDA. Sweep all pending payouts in a single transaction, batching multiple attribution events to minimize on-chain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1828800"/>
            <a:ext cx="5486400" cy="54864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Built for Solana.
Built for permanence.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component chosen for composability, cost-efficiency, and trustlessness on Solana mainnet.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366F1"/>
                </a:solidFill>
                <a:latin typeface="Calibri"/>
              </a:rPr>
              <a:t>On-Chain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10128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Rust (Anchor)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68496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Metaplex Bubblegum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26864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SPL Token-2022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85232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583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Solana Memo Program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69748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697480"/>
            <a:ext cx="27432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18CF8"/>
                </a:solidFill>
                <a:latin typeface="Calibri"/>
              </a:rPr>
              <a:t>Indexing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310128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Helius Webhooks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968496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PostgreSQL Cache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69748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69748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Frontend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310128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Next.js 14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968496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Wallet-Adapter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626864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7000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TypeScript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269748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269748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310128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383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SHA-256 Fingerprinting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968496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38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4041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alibri"/>
              </a:rPr>
              <a:t>Transfer Hooks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126480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126480"/>
            <a:ext cx="64008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Calibri"/>
              </a:rPr>
              <a:t>Zero oracle dependency · Full on-chain audit trail · Attribution proof verifiable by anyone with a Solana RPC endpoint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TRACTION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Devnet-proven.
Mainnet-ready.
Beta launching Q2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Core primitives validated end-to-end on Solana devnet. Closed beta with 50 invited creators begins mainnet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6400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91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Anchor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Deployed on Devnet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004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200400"/>
            <a:ext cx="6400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91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cNFT Minting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Bubblegum integration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004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200400"/>
            <a:ext cx="6400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291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CPI Royalty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Attribution → payout confirmed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64008" cy="10972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634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Next.js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74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One-click mint UI functional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5720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57200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634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Mainnet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074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Audited program, Q2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5720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57200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6634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Helius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074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Production webhooks, Q2 2026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502920"/>
            <a:ext cx="4297680" cy="612648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502920"/>
            <a:ext cx="429768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621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18CF8"/>
                </a:solidFill>
                <a:latin typeface="Calibri"/>
              </a:rPr>
              <a:t>2026 Targets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1188720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12344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18CF8"/>
                </a:solidFill>
                <a:latin typeface="Calibri"/>
              </a:rPr>
              <a:t>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12618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94"/>
                </a:solidFill>
                <a:latin typeface="Calibri"/>
              </a:rPr>
              <a:t>Beta creators
(Q2 2026)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2212848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225856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18CF8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2860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94"/>
                </a:solidFill>
                <a:latin typeface="Calibri"/>
              </a:rPr>
              <a:t>Protocol integrations
(Q2 2026)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3236976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32826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18CF8"/>
                </a:solidFill>
                <a:latin typeface="Calibri"/>
              </a:rPr>
              <a:t>500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33101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94"/>
                </a:solidFill>
                <a:latin typeface="Calibri"/>
              </a:rPr>
              <a:t>Active creator wallets
(Q3 2026)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4261104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430682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18CF8"/>
                </a:solidFill>
                <a:latin typeface="Calibri"/>
              </a:rPr>
              <a:t>$50K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334256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94"/>
                </a:solidFill>
                <a:latin typeface="Calibri"/>
              </a:rPr>
              <a:t>Cumulative royalties
paid out (Q3 2026)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5285232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533095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18CF8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5358384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94"/>
                </a:solidFill>
                <a:latin typeface="Calibri"/>
              </a:rPr>
              <a:t>Lines of code to
integrate SDK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572000" cy="4572000"/>
          </a:xfrm>
          <a:prstGeom prst="ellipse">
            <a:avLst/>
          </a:prstGeom>
          <a:solidFill>
            <a:srgbClr val="08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devnet proof to
public creator economy.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10789920" cy="548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201168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926080" cy="347472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366F1"/>
                </a:solidFill>
                <a:latin typeface="Calibri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3931920" cy="4160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39319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Q1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Core On-Chain Primitives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639312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47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Anchor program on devnet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169663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cNFT minting via Bubblegum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4700016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085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SHA-256 fingerprint storage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5230367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389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CPI royalty routing tested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5760719"/>
            <a:ext cx="128016" cy="12801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69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Next.js prototype live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2011680"/>
            <a:ext cx="274320" cy="2743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51960" y="1600200"/>
            <a:ext cx="2926080" cy="347472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18CF8"/>
                </a:solidFill>
                <a:latin typeface="Calibri"/>
              </a:rPr>
              <a:t>IN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423160"/>
            <a:ext cx="3931920" cy="4160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423160"/>
            <a:ext cx="393192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542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  <a:latin typeface="Calibri"/>
              </a:rPr>
              <a:t>Q2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Mainnet Beta Launch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42900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53128" y="3639312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547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Audited mainnet deployment</a:t>
            </a:r>
          </a:p>
        </p:txBody>
      </p:sp>
      <p:sp>
        <p:nvSpPr>
          <p:cNvPr id="36" name="Oval 35"/>
          <p:cNvSpPr/>
          <p:nvPr/>
        </p:nvSpPr>
        <p:spPr>
          <a:xfrm>
            <a:off x="4453128" y="4169663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0782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50 creator closed beta</a:t>
            </a:r>
          </a:p>
        </p:txBody>
      </p:sp>
      <p:sp>
        <p:nvSpPr>
          <p:cNvPr id="38" name="Oval 37"/>
          <p:cNvSpPr/>
          <p:nvPr/>
        </p:nvSpPr>
        <p:spPr>
          <a:xfrm>
            <a:off x="4453128" y="4700016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6085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Helius webhooks in production</a:t>
            </a:r>
          </a:p>
        </p:txBody>
      </p:sp>
      <p:sp>
        <p:nvSpPr>
          <p:cNvPr id="40" name="Oval 39"/>
          <p:cNvSpPr/>
          <p:nvPr/>
        </p:nvSpPr>
        <p:spPr>
          <a:xfrm>
            <a:off x="4453128" y="5230367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1389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 protocol integrations</a:t>
            </a:r>
          </a:p>
        </p:txBody>
      </p:sp>
      <p:sp>
        <p:nvSpPr>
          <p:cNvPr id="42" name="Oval 41"/>
          <p:cNvSpPr/>
          <p:nvPr/>
        </p:nvSpPr>
        <p:spPr>
          <a:xfrm>
            <a:off x="4453128" y="5760719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669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Attribution spec v1.0 public</a:t>
            </a:r>
          </a:p>
        </p:txBody>
      </p:sp>
      <p:sp>
        <p:nvSpPr>
          <p:cNvPr id="44" name="Oval 43"/>
          <p:cNvSpPr/>
          <p:nvPr/>
        </p:nvSpPr>
        <p:spPr>
          <a:xfrm>
            <a:off x="9372600" y="201168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55279" y="1600200"/>
            <a:ext cx="2926080" cy="347472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19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UPCOMING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2423160"/>
            <a:ext cx="3931920" cy="4160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5279" y="2423160"/>
            <a:ext cx="39319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59" y="2542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Q3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59" y="29077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Public Launch &amp; Scale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59" y="342900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56448" y="363931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59" y="3547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Self-serve public onboarding</a:t>
            </a:r>
          </a:p>
        </p:txBody>
      </p:sp>
      <p:sp>
        <p:nvSpPr>
          <p:cNvPr id="54" name="Oval 53"/>
          <p:cNvSpPr/>
          <p:nvPr/>
        </p:nvSpPr>
        <p:spPr>
          <a:xfrm>
            <a:off x="8156448" y="4169663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59" y="40782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500 active creator wallets</a:t>
            </a:r>
          </a:p>
        </p:txBody>
      </p:sp>
      <p:sp>
        <p:nvSpPr>
          <p:cNvPr id="56" name="Oval 55"/>
          <p:cNvSpPr/>
          <p:nvPr/>
        </p:nvSpPr>
        <p:spPr>
          <a:xfrm>
            <a:off x="8156448" y="4700016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59" y="46085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$50K cumulative payouts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5230367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59" y="51389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Batch claim UI</a:t>
            </a:r>
          </a:p>
        </p:txBody>
      </p:sp>
      <p:sp>
        <p:nvSpPr>
          <p:cNvPr id="60" name="Oval 59"/>
          <p:cNvSpPr/>
          <p:nvPr/>
        </p:nvSpPr>
        <p:spPr>
          <a:xfrm>
            <a:off x="8156448" y="5760719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59" y="5669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TypeScript SDK &amp; npm package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0"/>
            <a:ext cx="6400800" cy="6400800"/>
          </a:xfrm>
          <a:prstGeom prst="ellipse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1371600"/>
            <a:ext cx="4572000" cy="4572000"/>
          </a:xfrm>
          <a:prstGeom prst="ellipse">
            <a:avLst/>
          </a:prstGeom>
          <a:solidFill>
            <a:srgbClr val="0D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097280"/>
            <a:ext cx="36576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Calibri"/>
              </a:rPr>
              <a:t>JOIN THE 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9808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Own the value
your content creates.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22860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Inkdrop is opening its closed beta to 50 Solana-native creators in Q2 2026. If your content drives protocol adoption, you should be earning from it — automatically, trustlessly, on-chain.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Apply for Beta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3434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4407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18CF8"/>
                </a:solidFill>
                <a:latin typeface="Calibri"/>
              </a:rPr>
              <a:t>Read the Whitepaper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94"/>
                </a:solidFill>
                <a:latin typeface="Calibri"/>
              </a:rPr>
              <a:t>inkdrop.xyz  ·  @inkdrop_sol  ·  founders@inkdrop.xyz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Founded by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Why Inkdrop?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276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609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First-mover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9568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No competing on-chain content attribution standard exists on Solana today.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5420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523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Trustless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8712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100% on-chain attribution — no oracle, no centralized database, fully auditable.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832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4564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4381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Creator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7856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5–15% royalty on attributed protocol value. Compounding with every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2976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3708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525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Protocol Flywheel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Each adopting protocol expands the attribution surface for every creator instantly.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212080"/>
            <a:ext cx="5577840" cy="7498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52852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266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18CF8"/>
                </a:solidFill>
                <a:latin typeface="Calibri"/>
              </a:rPr>
              <a:t>Open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6144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94"/>
                </a:solidFill>
                <a:latin typeface="Calibri"/>
              </a:rPr>
              <a:t>Attribution memo spec is public. Network effects compound as adoption grows.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6263640"/>
            <a:ext cx="5577840" cy="411480"/>
          </a:xfrm>
          <a:prstGeom prst="roundRect">
            <a:avLst>
              <a:gd name="adj" fmla="val 8000"/>
            </a:avLst>
          </a:prstGeom>
          <a:solidFill>
            <a:srgbClr val="0D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Calibri"/>
              </a:rPr>
              <a:t>"Creators drove the adoption. Now they'll share in the value."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